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1 · 双语速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graph 2"/>
          <p:cNvSpPr/>
          <p:nvPr/>
        </p:nvSpPr>
        <p:spPr>
          <a:xfrm>
            <a:off x="0" y="3429000"/>
            <a:ext cx="4064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1800">
                <a:latin typeface="Aptos"/>
                <a:ea typeface="Microsoft YaHei"/>
              </a:rPr>
              <a:t xml:space="preserve">一座宜居城市，让公共空间、绿色出行和社区生活彼此连接。</a:t>
            </a:r>
            <a:endParaRPr lang="zh-CN"/>
          </a:p>
        </p:txBody>
      </p:sp>
      <p:sp>
        <p:nvSpPr>
          <p:cNvPr id="3" name="paragraph 3"/>
          <p:cNvSpPr/>
          <p:nvPr/>
        </p:nvSpPr>
        <p:spPr>
          <a:xfrm>
            <a:off x="4064000" y="3429000"/>
            <a:ext cx="4064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1800">
                <a:latin typeface="Aptos"/>
                <a:ea typeface="Microsoft YaHei"/>
              </a:rPr>
              <a:t xml:space="preserve">A livable city connects public space, low-carbon travel, and everyday community life.</a:t>
            </a:r>
            <a:endParaRPr lang="zh-CN"/>
          </a:p>
        </p:txBody>
      </p:sp>
      <p:pic>
        <p:nvPicPr>
          <p:cNvPr id="4" name="晨光校园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0" y="3837214"/>
            <a:ext cx="4064000" cy="2612571"/>
          </a:xfrm>
          <a:prstGeom prst="rect">
            <a:avLst/>
          </a:prstGeom>
        </p:spPr>
      </p:pic>
      <p:sp>
        <p:nvSpPr>
          <p:cNvPr id="5" name="图片说明 5"/>
          <p:cNvSpPr/>
          <p:nvPr/>
        </p:nvSpPr>
        <p:spPr>
          <a:xfrm>
            <a:off x="8128000" y="6240780"/>
            <a:ext cx="4064000" cy="6172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800">
                <a:latin typeface="Aptos"/>
                <a:ea typeface="Microsoft YaHei"/>
              </a:rPr>
              <a:t xml:space="preserve">campus-landscape.png</a:t>
            </a:r>
            <a:endParaRPr lang="zh-CN"/>
          </a:p>
        </p:txBody>
      </p:sp>
      <p:sp>
        <p:nvSpPr>
          <p:cNvPr id="6" name="heading 6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2400" b="1">
                <a:latin typeface="Aptos"/>
                <a:ea typeface="Microsoft YaHei"/>
              </a:rPr>
              <a:t xml:space="preserve">双语城市导览 · Bilingual City Tour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2 · 跨格影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graph 2"/>
          <p:cNvSpPr/>
          <p:nvPr/>
        </p:nvSpPr>
        <p:spPr>
          <a:xfrm>
            <a:off x="4064000" y="0"/>
            <a:ext cx="812800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1800">
                <a:latin typeface="Aptos"/>
                <a:ea typeface="Microsoft YaHei"/>
              </a:rPr>
              <a:t xml:space="preserve">这张宽幅夜景图横跨第二页的三列与两行。</a:t>
            </a:r>
            <a:endParaRPr lang="zh-CN"/>
          </a:p>
        </p:txBody>
      </p:sp>
      <p:sp>
        <p:nvSpPr>
          <p:cNvPr id="3" name="heading 3"/>
          <p:cNvSpPr/>
          <p:nvPr/>
        </p:nvSpPr>
        <p:spPr>
          <a:xfrm>
            <a:off x="0" y="0"/>
            <a:ext cx="406400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2400" b="1">
                <a:latin typeface="Aptos"/>
                <a:ea typeface="Microsoft YaHei"/>
              </a:rPr>
              <a:t xml:space="preserve">河畔更新 · A Riverside Renewal</a:t>
            </a:r>
            <a:endParaRPr lang="zh-CN"/>
          </a:p>
        </p:txBody>
      </p:sp>
      <p:pic>
        <p:nvPicPr>
          <p:cNvPr id="4" name="河畔城市夜景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2286000"/>
            <a:ext cx="8128000" cy="4572000"/>
          </a:xfrm>
          <a:prstGeom prst="rect">
            <a:avLst/>
          </a:prstGeom>
        </p:spPr>
      </p:pic>
      <p:sp>
        <p:nvSpPr>
          <p:cNvPr id="5" name="图片说明 5"/>
          <p:cNvSpPr/>
          <p:nvPr/>
        </p:nvSpPr>
        <p:spPr>
          <a:xfrm>
            <a:off x="0" y="6035040"/>
            <a:ext cx="121920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800">
                <a:latin typeface="Aptos"/>
                <a:ea typeface="Microsoft YaHei"/>
              </a:rPr>
              <a:t xml:space="preserve">river-evening.jpg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3 · 正文与空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 2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2400" b="1">
                <a:latin typeface="Aptos"/>
                <a:ea typeface="Microsoft YaHei"/>
              </a:rPr>
              <a:t xml:space="preserve">第三页正文</a:t>
            </a:r>
            <a:endParaRPr lang="zh-CN"/>
          </a:p>
        </p:txBody>
      </p:sp>
      <p:sp>
        <p:nvSpPr>
          <p:cNvPr id="3" name="paragraph 3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50800" bIns="5080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sz="1800">
                <a:latin typeface="Aptos"/>
                <a:ea typeface="Microsoft YaHei"/>
              </a:rPr>
              <a:t xml:space="preserve">步行网络把学校、河岸与邻里服务连成连续的日常路线。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Course Workbench">
  <a:themeElements>
    <a:clrScheme name="Workbench">
      <a:dk1>
        <a:srgbClr val="20242B"/>
      </a:dk1>
      <a:lt1>
        <a:srgbClr val="FFFFFF"/>
      </a:lt1>
      <a:dk2>
        <a:srgbClr val="44546A"/>
      </a:dk2>
      <a:lt2>
        <a:srgbClr val="E7E6E6"/>
      </a:lt2>
      <a:accent1>
        <a:srgbClr val="175CD3"/>
      </a:accent1>
      <a:accent2>
        <a:srgbClr val="00A3A3"/>
      </a:accent2>
      <a:accent3>
        <a:srgbClr val="ED7D31"/>
      </a:accent3>
      <a:accent4>
        <a:srgbClr val="70AD47"/>
      </a:accent4>
      <a:accent5>
        <a:srgbClr val="A5A5A5"/>
      </a:accent5>
      <a:accent6>
        <a:srgbClr val="FFC000"/>
      </a:accent6>
      <a:hlink>
        <a:srgbClr val="0563C1"/>
      </a:hlink>
      <a:folHlink>
        <a:srgbClr val="954F72"/>
      </a:folHlink>
    </a:clrScheme>
    <a:fontScheme name="Workbench">
      <a:majorFont>
        <a:latin typeface="Aptos Display"/>
        <a:ea typeface="Microsoft YaHei"/>
        <a:cs typeface="Aptos Display"/>
      </a:majorFont>
      <a:minorFont>
        <a:latin typeface="Aptos"/>
        <a:ea typeface="Microsoft YaHei"/>
        <a:cs typeface="Aptos"/>
      </a:minorFont>
    </a:fontScheme>
    <a:fmtScheme name="Workbench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round/>
        </a:ln>
        <a:ln w="25400" cap="flat" cmpd="sng" algn="ctr">
          <a:solidFill>
            <a:schemeClr val="phClr"/>
          </a:solidFill>
          <a:prstDash val="solid"/>
          <a:round/>
        </a:ln>
        <a:ln w="38100" cap="flat" cmpd="sng" algn="ctr">
          <a:solidFill>
            <a:schemeClr val="phClr"/>
          </a:solidFill>
          <a:prstDash val="solid"/>
          <a:round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